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ThyroDIAG: An Ensemble ML Approach for</a:t>
            </a:r>
            <a:br/>
            <a:r>
              <a:t>Thyroid Cancer Subtype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Using Real Clinical Gene Expression Data</a:t>
            </a:r>
            <a:br/>
            <a:r>
              <a:t>Kanishka P M | MSc Bioinformatics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1. Rationale /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Clinical Need: Accurate diagnosis of thyroid cancer subtypes (especially aggressive Anaplastic vs. indolent Papillary) is critical for treatment.</a:t>
            </a:r>
          </a:p>
          <a:p>
            <a:pPr>
              <a:spcAft>
                <a:spcPts val="1200"/>
              </a:spcAft>
              <a:defRPr sz="2000"/>
            </a:pPr>
            <a:r>
              <a:t>• The Problem with Current ML Approaches: Many rely on synthetic data, perform only binary classification, or suffer from genome-wide noise.</a:t>
            </a:r>
          </a:p>
          <a:p>
            <a:pPr>
              <a:spcAft>
                <a:spcPts val="1200"/>
              </a:spcAft>
              <a:defRPr sz="2000"/>
            </a:pPr>
            <a:r>
              <a:t>• Our Solution: A robust pipeline leveraging real clinical gene expression profiles and an advanced stacking ensemble for highly accurate, multi-class diagnostic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2. Aim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Primary Aim: Develop &amp; validate a high-accuracy, multi-class ensemble ML model classifying four thyroid tissue subtypes using NCBI GEO data.</a:t>
            </a:r>
          </a:p>
          <a:p>
            <a:pPr>
              <a:spcAft>
                <a:spcPts val="1200"/>
              </a:spcAft>
              <a:defRPr sz="2000"/>
            </a:pPr>
            <a:r>
              <a:t>• Objective 1: Integrate/preprocess raw series matrix data from GEO.</a:t>
            </a:r>
          </a:p>
          <a:p>
            <a:pPr>
              <a:spcAft>
                <a:spcPts val="1200"/>
              </a:spcAft>
              <a:defRPr sz="2000"/>
            </a:pPr>
            <a:r>
              <a:t>• Objective 2: Identify a clinically relevant biomarker panel using LASSO regression.</a:t>
            </a:r>
          </a:p>
          <a:p>
            <a:pPr>
              <a:spcAft>
                <a:spcPts val="1200"/>
              </a:spcAft>
              <a:defRPr sz="2000"/>
            </a:pPr>
            <a:r>
              <a:t>• Objective 3: Engineer a Stacking Ensemble combining diverse base models (RF, SVM, GB, KNN, MLP).</a:t>
            </a:r>
          </a:p>
          <a:p>
            <a:pPr>
              <a:spcAft>
                <a:spcPts val="1200"/>
              </a:spcAft>
              <a:defRPr sz="2000"/>
            </a:pPr>
            <a:r>
              <a:t>• Objective 4: Evaluate performance on the 4-class problem (Normal, PTC, FTC, ATC).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3. Materials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Data Source: Patient-derived microarray data from NCBI GEO (GSE33630, GSE60541, GSE53157).</a:t>
            </a:r>
          </a:p>
          <a:p>
            <a:pPr>
              <a:spcAft>
                <a:spcPts val="1200"/>
              </a:spcAft>
              <a:defRPr sz="2000"/>
            </a:pPr>
            <a:r>
              <a:t>• Dataset Size: 215 total samples across 4 classes.</a:t>
            </a:r>
          </a:p>
          <a:p>
            <a:pPr>
              <a:spcAft>
                <a:spcPts val="1200"/>
              </a:spcAft>
              <a:defRPr sz="2000"/>
            </a:pPr>
            <a:r>
              <a:t>• • Papillary (PTC): 114 (53.0%)</a:t>
            </a:r>
          </a:p>
          <a:p>
            <a:pPr>
              <a:spcAft>
                <a:spcPts val="1200"/>
              </a:spcAft>
              <a:defRPr sz="2000"/>
            </a:pPr>
            <a:r>
              <a:t>• • Normal: 70 (32.6%)</a:t>
            </a:r>
          </a:p>
          <a:p>
            <a:pPr>
              <a:spcAft>
                <a:spcPts val="1200"/>
              </a:spcAft>
              <a:defRPr sz="2000"/>
            </a:pPr>
            <a:r>
              <a:t>• • Anaplastic (ATC): 16 (7.4%)</a:t>
            </a:r>
          </a:p>
          <a:p>
            <a:pPr>
              <a:spcAft>
                <a:spcPts val="1200"/>
              </a:spcAft>
              <a:defRPr sz="2000"/>
            </a:pPr>
            <a:r>
              <a:t>• • Follicular (FTC): 15 (7.0%)</a:t>
            </a:r>
          </a:p>
          <a:p>
            <a:pPr>
              <a:spcAft>
                <a:spcPts val="1200"/>
              </a:spcAft>
              <a:defRPr sz="2000"/>
            </a:pPr>
            <a:r>
              <a:t>• Base Models: Random Forest, SVM (RBF), Gradient Boosting, KNN, MLP.</a:t>
            </a:r>
          </a:p>
          <a:p>
            <a:pPr>
              <a:spcAft>
                <a:spcPts val="1200"/>
              </a:spcAft>
              <a:defRPr sz="2000"/>
            </a:pPr>
            <a:r>
              <a:t>• Meta-Learner: Logistic Regression via 5-fold CV.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4.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Step 1: Data Acquisition → Download &amp; parse GEO series matrix files.</a:t>
            </a:r>
          </a:p>
          <a:p>
            <a:pPr>
              <a:spcAft>
                <a:spcPts val="1200"/>
              </a:spcAft>
              <a:defRPr sz="2000"/>
            </a:pPr>
            <a:r>
              <a:t>• Step 2: Preprocessing → Quality control, standard scaling, missing value imputation.</a:t>
            </a:r>
          </a:p>
          <a:p>
            <a:pPr>
              <a:spcAft>
                <a:spcPts val="1200"/>
              </a:spcAft>
              <a:defRPr sz="2000"/>
            </a:pPr>
            <a:r>
              <a:t>• Step 3: Feature Selection → LASSO to distill hundreds of genes into 61 core driver/biomarker genes.</a:t>
            </a:r>
          </a:p>
          <a:p>
            <a:pPr>
              <a:spcAft>
                <a:spcPts val="1200"/>
              </a:spcAft>
              <a:defRPr sz="2000"/>
            </a:pPr>
            <a:r>
              <a:t>• Step 4: Model Training → Train 5 base classifiers and the Stacking Ensemble meta-learner.</a:t>
            </a:r>
          </a:p>
          <a:p>
            <a:pPr>
              <a:spcAft>
                <a:spcPts val="1200"/>
              </a:spcAft>
              <a:defRPr sz="2000"/>
            </a:pPr>
            <a:r>
              <a:t>• Step 5: Validation → Evaluate using confusion matrices and cross-validation.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Pipeline Visualization</a:t>
            </a:r>
          </a:p>
        </p:txBody>
      </p:sp>
      <p:pic>
        <p:nvPicPr>
          <p:cNvPr id="3" name="Picture 2" descr="pip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7042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End-to-end data processing and modeling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5. Parameters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Feature Selection: LASSO (Least Absolute Shrinkage and Selection Operator) to prevent overfitting.</a:t>
            </a:r>
          </a:p>
          <a:p>
            <a:pPr>
              <a:spcAft>
                <a:spcPts val="1200"/>
              </a:spcAft>
              <a:defRPr sz="2000"/>
            </a:pPr>
            <a:r>
              <a:t>• Evaluation Strategy: 5-fold stratified cross-validation for robustness across unbalanced classes.</a:t>
            </a:r>
          </a:p>
          <a:p>
            <a:pPr>
              <a:spcAft>
                <a:spcPts val="1200"/>
              </a:spcAft>
              <a:defRPr sz="2000"/>
            </a:pPr>
            <a:r>
              <a:t>• Performance Metrics Evaluated: Overall Accuracy, Precision, Recall (Sensitivity), and F1-Score.</a:t>
            </a:r>
          </a:p>
          <a:p>
            <a:pPr>
              <a:spcAft>
                <a:spcPts val="1200"/>
              </a:spcAft>
              <a:defRPr sz="2000"/>
            </a:pPr>
            <a:r>
              <a:t>• Evaluation Visualizations: Confusion Matrix, Feature Importance Plots.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6. Results: Biomarker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Successfully identified 61 highly discriminative genes.</a:t>
            </a:r>
          </a:p>
          <a:p>
            <a:pPr>
              <a:spcAft>
                <a:spcPts val="1200"/>
              </a:spcAft>
              <a:defRPr sz="2000"/>
            </a:pPr>
            <a:r>
              <a:t>• Thyroid Differentiation: TG, TPO, DIO1, TSHR, NIS (SLC5A5)</a:t>
            </a:r>
          </a:p>
          <a:p>
            <a:pPr>
              <a:spcAft>
                <a:spcPts val="1200"/>
              </a:spcAft>
              <a:defRPr sz="2000"/>
            </a:pPr>
            <a:r>
              <a:t>• Cancer Driver Mutations: BRAF, RET, RAS family, PTEN, TP53</a:t>
            </a:r>
          </a:p>
          <a:p>
            <a:pPr>
              <a:spcAft>
                <a:spcPts val="1200"/>
              </a:spcAft>
              <a:defRPr sz="2000"/>
            </a:pPr>
            <a:r>
              <a:t>• EMT &amp; Diagnostics: TERT, GALECTIN3, HBME1, KRT19, VIM</a:t>
            </a:r>
          </a:p>
          <a:p>
            <a:pPr>
              <a:spcAft>
                <a:spcPts val="1200"/>
              </a:spcAft>
              <a:defRPr sz="2000"/>
            </a:pPr>
            <a:r>
              <a:t>• Proliferation (High in ATC): MKI67, PCNA, TOP2A</a:t>
            </a:r>
          </a:p>
          <a:p>
            <a:pPr>
              <a:spcAft>
                <a:spcPts val="1200"/>
              </a:spcAft>
              <a:defRPr sz="2000"/>
            </a:pPr>
            <a:r>
              <a:t>• Immune Checkpoints: PDL1, CTLA4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7. Results: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Individual Models: SVM achieved highest individual test accuracy (93.0%), MLP (90.7%).</a:t>
            </a:r>
          </a:p>
          <a:p>
            <a:pPr>
              <a:spcAft>
                <a:spcPts val="1200"/>
              </a:spcAft>
              <a:defRPr sz="2000"/>
            </a:pPr>
            <a:r>
              <a:t>• Final Ensemble Performance:</a:t>
            </a:r>
          </a:p>
          <a:p>
            <a:pPr>
              <a:spcAft>
                <a:spcPts val="1200"/>
              </a:spcAft>
              <a:defRPr sz="2000"/>
            </a:pPr>
            <a:r>
              <a:t>• • Test Accuracy: 93.0%</a:t>
            </a:r>
          </a:p>
          <a:p>
            <a:pPr>
              <a:spcAft>
                <a:spcPts val="1200"/>
              </a:spcAft>
              <a:defRPr sz="2000"/>
            </a:pPr>
            <a:r>
              <a:t>• • Cross-Validation Mean: 94.2%</a:t>
            </a:r>
          </a:p>
          <a:p>
            <a:pPr>
              <a:spcAft>
                <a:spcPts val="1200"/>
              </a:spcAft>
              <a:defRPr sz="2000"/>
            </a:pPr>
            <a:r>
              <a:t>• • Recall: 93.0%</a:t>
            </a:r>
          </a:p>
          <a:p>
            <a:pPr>
              <a:spcAft>
                <a:spcPts val="1200"/>
              </a:spcAft>
              <a:defRPr sz="2000"/>
            </a:pPr>
            <a:r>
              <a:t>• • F1-Score: 89.7%</a:t>
            </a:r>
          </a:p>
          <a:p>
            <a:pPr>
              <a:spcAft>
                <a:spcPts val="1200"/>
              </a:spcAft>
              <a:defRPr sz="2000"/>
            </a:pPr>
            <a:r>
              <a:t>• Multi-Class Success: Successfully differentiated the 4 subtypes despite class imbalances.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Results: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43669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High accuracy classification across all four distinct tissue subtypes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8. Discussion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Clinical Significance: With 93% accuracy on real patient data, this model shows strong potential as a diagnostic support tool for pathologists.</a:t>
            </a:r>
          </a:p>
          <a:p>
            <a:pPr>
              <a:spcAft>
                <a:spcPts val="1200"/>
              </a:spcAft>
              <a:defRPr sz="2000"/>
            </a:pPr>
            <a:r>
              <a:t>• Biological Relevance: Extracted biomarker panel aligns directly with known thyroid biology.</a:t>
            </a:r>
          </a:p>
          <a:p>
            <a:pPr>
              <a:spcAft>
                <a:spcPts val="1200"/>
              </a:spcAft>
              <a:defRPr sz="2000"/>
            </a:pPr>
            <a:r>
              <a:t>• Future Directions: Wider clinical validation, direct histopathology workflow integration, and web app refinement.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9. Novelty Points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Real Clinical Data: Authentic patient-derived gene expression data, not synthetic.</a:t>
            </a:r>
          </a:p>
          <a:p>
            <a:pPr>
              <a:spcAft>
                <a:spcPts val="1200"/>
              </a:spcAft>
              <a:defRPr sz="2000"/>
            </a:pPr>
            <a:r>
              <a:t>• Robust Feature Selection: 61 biomarker genes via LASSO preventing the 'curse of dimensionality'.</a:t>
            </a:r>
          </a:p>
          <a:p>
            <a:pPr>
              <a:spcAft>
                <a:spcPts val="1200"/>
              </a:spcAft>
              <a:defRPr sz="2000"/>
            </a:pPr>
            <a:r>
              <a:t>• Advanced Stacking Ensemble: Combining 5 diverse models rather than a single classifier.</a:t>
            </a:r>
          </a:p>
          <a:p>
            <a:pPr>
              <a:spcAft>
                <a:spcPts val="1200"/>
              </a:spcAft>
              <a:defRPr sz="2000"/>
            </a:pPr>
            <a:r>
              <a:t>• Simultaneous Multi-Class: Accurately classifying 4 distinct thyroid tissue subtypes together.</a:t>
            </a:r>
          </a:p>
          <a:p>
            <a:pPr>
              <a:spcAft>
                <a:spcPts val="1200"/>
              </a:spcAft>
              <a:defRPr sz="2000"/>
            </a:pPr>
            <a:r>
              <a:t>• Translation-Ready: 93.02% accuracy with a complete end-to-end reproducible pipeline, including a live clinical web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10. 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Edgar R, Domrachev M, Lash AE. Gene Expression Omnibus: NCBI gene expression and hybridization array data repository. Nucleic Acids Res. 2002;30(1):207-210.</a:t>
            </a:r>
          </a:p>
          <a:p>
            <a:pPr>
              <a:spcAft>
                <a:spcPts val="1200"/>
              </a:spcAft>
              <a:defRPr sz="2000"/>
            </a:pPr>
            <a:r>
              <a:t>• 2. Cancer Genome Atlas Research Network. Integrated genomic characterization of papillary thyroid carcinoma. Cell. 2014;159(3):676-690.</a:t>
            </a:r>
          </a:p>
          <a:p>
            <a:pPr>
              <a:spcAft>
                <a:spcPts val="1200"/>
              </a:spcAft>
              <a:defRPr sz="2000"/>
            </a:pPr>
            <a:r>
              <a:t>• 3. Xing M. BRAF mutation in thyroid cancer. Endocr Relat Cancer. 2005;12(2):245-262.</a:t>
            </a:r>
          </a:p>
          <a:p>
            <a:pPr>
              <a:spcAft>
                <a:spcPts val="1200"/>
              </a:spcAft>
              <a:defRPr sz="2000"/>
            </a:pPr>
            <a:r>
              <a:t>• 4. Hastie T, Tibshirani R, Wainwright M. Statistical Learning with Sparsity: The Lasso and Generalizations. CRC Press; 2015.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Live Web App Demo &amp; Questions</a:t>
            </a:r>
            <a:br/>
            <a:r>
              <a:t>ThyroDIAG 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