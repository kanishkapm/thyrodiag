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Thyroid Cancer Classification</a:t>
            </a:r>
            <a:br/>
            <a:r>
              <a:t>Using Ensemble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A Real GEO Gene Expression Data Analysis</a:t>
            </a:r>
            <a:br/>
            <a:r>
              <a:t>Kanishka P M | MSc Bioinformatics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Automated pipeline for thyroid cancer classification using real patient data</a:t>
            </a:r>
          </a:p>
          <a:p>
            <a:pPr>
              <a:spcAft>
                <a:spcPts val="1200"/>
              </a:spcAft>
              <a:defRPr sz="2200"/>
            </a:pPr>
            <a:r>
              <a:t>• Multi-class classification: PTC, FTC, ATC, and Normal tissue</a:t>
            </a:r>
          </a:p>
          <a:p>
            <a:pPr>
              <a:spcAft>
                <a:spcPts val="1200"/>
              </a:spcAft>
              <a:defRPr sz="2200"/>
            </a:pPr>
            <a:r>
              <a:t>• Uses 61 curated biomarker genes from published literature</a:t>
            </a:r>
          </a:p>
          <a:p>
            <a:pPr>
              <a:spcAft>
                <a:spcPts val="1200"/>
              </a:spcAft>
              <a:defRPr sz="2200"/>
            </a:pPr>
            <a:r>
              <a:t>• Ensemble machine learning approach combining 5 base classifiers</a:t>
            </a:r>
          </a:p>
          <a:p>
            <a:pPr>
              <a:spcAft>
                <a:spcPts val="1200"/>
              </a:spcAft>
              <a:defRPr sz="2200"/>
            </a:pPr>
            <a:r>
              <a:t>• 93% accuracy achieved on real GEO datasets</a:t>
            </a:r>
          </a:p>
          <a:p>
            <a:pPr>
              <a:spcAft>
                <a:spcPts val="1200"/>
              </a:spcAft>
              <a:defRPr sz="2200"/>
            </a:pPr>
            <a:r>
              <a:t>• Ready for clinical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Data Sources - GEO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GSE33630: Normal thyrocytes vs Papillary vs Anaplastic (105 samples)</a:t>
            </a:r>
          </a:p>
          <a:p>
            <a:pPr>
              <a:spcAft>
                <a:spcPts val="1200"/>
              </a:spcAft>
              <a:defRPr sz="2200"/>
            </a:pPr>
            <a:r>
              <a:t>• GSE60541: Human thyroid cancer gene expression profiling</a:t>
            </a:r>
          </a:p>
          <a:p>
            <a:pPr>
              <a:spcAft>
                <a:spcPts val="1200"/>
              </a:spcAft>
              <a:defRPr sz="2200"/>
            </a:pPr>
            <a:r>
              <a:t>• GSE53157: Papillary thyroid carcinoma with/without lymph node metastasis</a:t>
            </a:r>
          </a:p>
          <a:p>
            <a:pPr>
              <a:spcAft>
                <a:spcPts val="1200"/>
              </a:spcAft>
              <a:defRPr sz="2200"/>
            </a:pPr>
            <a:r>
              <a:t>• GSE29265: Thyroid carcinoma gene expression</a:t>
            </a:r>
          </a:p>
          <a:p>
            <a:pPr>
              <a:spcAft>
                <a:spcPts val="1200"/>
              </a:spcAft>
              <a:defRPr sz="2200"/>
            </a:pPr>
            <a:r>
              <a:t>• GSE3467: Thyroid cancer expression profiling</a:t>
            </a:r>
          </a:p>
          <a:p>
            <a:pPr>
              <a:spcAft>
                <a:spcPts val="1200"/>
              </a:spcAft>
              <a:defRPr sz="2200"/>
            </a:pPr>
            <a:r>
              <a:t>• GSE76039: Anaplastic thyroid carcinoma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Sample Distribution</a:t>
            </a:r>
          </a:p>
        </p:txBody>
      </p:sp>
      <p:pic>
        <p:nvPicPr>
          <p:cNvPr id="3" name="Picture 2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51197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Total: 215 samples across 4 classes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Methodology Pipeline</a:t>
            </a:r>
          </a:p>
        </p:txBody>
      </p:sp>
      <p:pic>
        <p:nvPicPr>
          <p:cNvPr id="3" name="Picture 2" descr="pipelin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70429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Complete ML pipeline from data download to ensemble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Gene Expression Patterns</a:t>
            </a:r>
          </a:p>
        </p:txBody>
      </p:sp>
      <p:pic>
        <p:nvPicPr>
          <p:cNvPr id="3" name="Picture 2" descr="gene_express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64441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61 biomarker genes across 215 samples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Top Biomarker Genes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56067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Gene importance ranking from ensemble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Model Performance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67663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Individual model performance vs Stacking Ensemble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Detailed Model Performance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7729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104502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CV Mean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89.0%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91.9%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80.8%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90.7%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91.8%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Stacking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94.2%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Confusion Matrix - Best Model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43669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Stacking Ensemble: 93% test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Results Summary Dashboard</a:t>
            </a:r>
          </a:p>
        </p:txBody>
      </p:sp>
      <p:pic>
        <p:nvPicPr>
          <p:cNvPr id="3" name="Picture 2" descr="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88402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Comprehensive visualization of all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Pathway Enrichment Analysis (GSEA)</a:t>
            </a:r>
          </a:p>
        </p:txBody>
      </p:sp>
      <p:pic>
        <p:nvPicPr>
          <p:cNvPr id="3" name="Picture 2" descr="gsea_ba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75181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Differentially enriched biological pathways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61 Biomarker Genes by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Thyroid Differentiation (10): TG, TPO, DIO1, DIO2, TSHR, NIS, SLC26A4, TTF1, FOXE1, PAX8</a:t>
            </a:r>
          </a:p>
          <a:p>
            <a:pPr>
              <a:spcAft>
                <a:spcPts val="1200"/>
              </a:spcAft>
              <a:defRPr sz="2200"/>
            </a:pPr>
            <a:r>
              <a:t>• Cancer Driver Genes (12): BRAF, RET, NRAS, HRAS, KRAS, PIK3CA, PTEN, TP53, PAX8, HNF1A, HNF1B, THRB</a:t>
            </a:r>
          </a:p>
          <a:p>
            <a:pPr>
              <a:spcAft>
                <a:spcPts val="1200"/>
              </a:spcAft>
              <a:defRPr sz="2200"/>
            </a:pPr>
            <a:r>
              <a:t>• Diagnostic &amp; EMT Markers (18): TERT, AKT1, MAPK1, GALECTIN3, HBME1, KRT19, KRT7, FN1, VIM, ZEB1, ZEB2, SNAI1, SNAI2, TWIST1, PPARG, etc.</a:t>
            </a:r>
          </a:p>
          <a:p>
            <a:pPr>
              <a:spcAft>
                <a:spcPts val="1200"/>
              </a:spcAft>
              <a:defRPr sz="2200"/>
            </a:pPr>
            <a:r>
              <a:t>• Immune Checkpoints (6): PD1, PDL1, PDL2, CTLA4, CD8A, CD45</a:t>
            </a:r>
          </a:p>
          <a:p>
            <a:pPr>
              <a:spcAft>
                <a:spcPts val="1200"/>
              </a:spcAft>
              <a:defRPr sz="2200"/>
            </a:pPr>
            <a:r>
              <a:t>• Proliferation Markers (5): MKI67, PCNA, TOP2A, CCNB1, CCND1</a:t>
            </a:r>
          </a:p>
          <a:p>
            <a:pPr>
              <a:spcAft>
                <a:spcPts val="1200"/>
              </a:spcAft>
              <a:defRPr sz="2200"/>
            </a:pPr>
            <a:r>
              <a:t>• Angiogenesis &amp; Inflammation (8): VEGFA, VEGFB, VEGFR2, STAT3, NFKB1, IL6, CXCL8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Novelty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Real GEO Patient Data: First study using actual gene expression from NCBI GEO</a:t>
            </a:r>
          </a:p>
          <a:p>
            <a:pPr>
              <a:spcAft>
                <a:spcPts val="1200"/>
              </a:spcAft>
              <a:defRPr sz="2200"/>
            </a:pPr>
            <a:r>
              <a:t>• 61 Curated Biomarkers: Domain-specific panel from peer-reviewed literature</a:t>
            </a:r>
          </a:p>
          <a:p>
            <a:pPr>
              <a:spcAft>
                <a:spcPts val="1200"/>
              </a:spcAft>
              <a:defRPr sz="2200"/>
            </a:pPr>
            <a:r>
              <a:t>• Stacking Ensemble: Combines RF, SVM, GB, KNN with LogisticRegression meta-learner</a:t>
            </a:r>
          </a:p>
          <a:p>
            <a:pPr>
              <a:spcAft>
                <a:spcPts val="1200"/>
              </a:spcAft>
              <a:defRPr sz="2200"/>
            </a:pPr>
            <a:r>
              <a:t>• Multi-Class Simultaneous: 4 cancer subtypes classified together</a:t>
            </a:r>
          </a:p>
          <a:p>
            <a:pPr>
              <a:spcAft>
                <a:spcPts val="1200"/>
              </a:spcAft>
              <a:defRPr sz="2200"/>
            </a:pPr>
            <a:r>
              <a:t>• Clinical Accuracy: 93% accuracy suitable for diagnostic validation</a:t>
            </a:r>
          </a:p>
          <a:p>
            <a:pPr>
              <a:spcAft>
                <a:spcPts val="1200"/>
              </a:spcAft>
              <a:defRPr sz="2200"/>
            </a:pPr>
            <a:r>
              <a:t>• Web Interface: User-friendly prediction tool for clinicians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Successfully classified 4 thyroid cancer subtypes with 93% accuracy</a:t>
            </a:r>
          </a:p>
          <a:p>
            <a:pPr>
              <a:spcAft>
                <a:spcPts val="1200"/>
              </a:spcAft>
              <a:defRPr sz="2200"/>
            </a:pPr>
            <a:r>
              <a:t>• SVM and Stacking Ensemble achieved best performance</a:t>
            </a:r>
          </a:p>
          <a:p>
            <a:pPr>
              <a:spcAft>
                <a:spcPts val="1200"/>
              </a:spcAft>
              <a:defRPr sz="2200"/>
            </a:pPr>
            <a:r>
              <a:t>• 61 biomarker genes identified as discriminative features</a:t>
            </a:r>
          </a:p>
          <a:p>
            <a:pPr>
              <a:spcAft>
                <a:spcPts val="1200"/>
              </a:spcAft>
              <a:defRPr sz="2200"/>
            </a:pPr>
            <a:r>
              <a:t>• GSEA revealed enrichment in cancer-related pathways</a:t>
            </a:r>
          </a:p>
          <a:p>
            <a:pPr>
              <a:spcAft>
                <a:spcPts val="1200"/>
              </a:spcAft>
              <a:defRPr sz="2200"/>
            </a:pPr>
            <a:r>
              <a:t>• Model ready for clinical validation and prospective studies</a:t>
            </a:r>
          </a:p>
          <a:p>
            <a:pPr>
              <a:spcAft>
                <a:spcPts val="1200"/>
              </a:spcAft>
              <a:defRPr sz="2200"/>
            </a:pPr>
            <a:r>
              <a:t>• Web application available for real-time predictions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Questions?</a:t>
            </a:r>
            <a:br/>
            <a:r>
              <a:t>kanishka@email.com</a:t>
            </a:r>
            <a:br/>
            <a:r>
              <a:t>GitHub: github.com/kanishka/thyroid_project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